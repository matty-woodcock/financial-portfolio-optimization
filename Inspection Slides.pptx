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57" r:id="rId4"/>
    <p:sldId id="258" r:id="rId5"/>
    <p:sldId id="267" r:id="rId6"/>
    <p:sldId id="263" r:id="rId7"/>
    <p:sldId id="264" r:id="rId8"/>
    <p:sldId id="266" r:id="rId9"/>
    <p:sldId id="268" r:id="rId10"/>
    <p:sldId id="27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569"/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0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669280" y="-109728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Portfolio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Reinforcement Learning &amp; Evolutionary Algorithms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Woodcock  •  Supervised by Professor Peter Tino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 |  NSGA-II  |  GARCH  |  11-Asset Universe  |  Significance Testing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2" name="IntroCardBg"/>
          <p:cNvSpPr/>
          <p:nvPr/>
        </p:nvSpPr>
        <p:spPr>
          <a:xfrm>
            <a:off x="228600" y="863600"/>
            <a:ext cx="8686800" cy="1249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sz="1000" dirty="0"/>
          </a:p>
        </p:txBody>
      </p:sp>
      <p:sp>
        <p:nvSpPr>
          <p:cNvPr id="103" name="IntroAccent"/>
          <p:cNvSpPr/>
          <p:nvPr/>
        </p:nvSpPr>
        <p:spPr>
          <a:xfrm>
            <a:off x="228600" y="863600"/>
            <a:ext cx="8686800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sz="1000" dirty="0"/>
          </a:p>
        </p:txBody>
      </p:sp>
      <p:sp>
        <p:nvSpPr>
          <p:cNvPr id="104" name="IntroTitle"/>
          <p:cNvSpPr/>
          <p:nvPr/>
        </p:nvSpPr>
        <p:spPr>
          <a:xfrm>
            <a:off x="368300" y="965200"/>
            <a:ext cx="3556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05" name="IntroBody"/>
          <p:cNvSpPr/>
          <p:nvPr/>
        </p:nvSpPr>
        <p:spPr>
          <a:xfrm>
            <a:off x="368300" y="1320800"/>
            <a:ext cx="84328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 requires balancing return and risk across changing market conditions, yet most classical approaches assume stability. This project builds and evaluates a </a:t>
            </a: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agent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</a:t>
            </a: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optimiser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both capable of dynamically adapting to shifting market conditions, tested rigorously on a realistic asset universe with genuine </a:t>
            </a: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CFC72-26D8-17A2-360F-D51DAED158EC}"/>
              </a:ext>
            </a:extLst>
          </p:cNvPr>
          <p:cNvSpPr txBox="1"/>
          <p:nvPr/>
        </p:nvSpPr>
        <p:spPr>
          <a:xfrm>
            <a:off x="228600" y="131664"/>
            <a:ext cx="48844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 &amp; Objectives</a:t>
            </a:r>
            <a:endParaRPr lang="en-US" sz="2200" dirty="0"/>
          </a:p>
        </p:txBody>
      </p:sp>
      <p:sp>
        <p:nvSpPr>
          <p:cNvPr id="200" name="ObjHeader"/>
          <p:cNvSpPr/>
          <p:nvPr/>
        </p:nvSpPr>
        <p:spPr>
          <a:xfrm>
            <a:off x="228600" y="224028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</a:p>
        </p:txBody>
      </p:sp>
      <p:sp>
        <p:nvSpPr>
          <p:cNvPr id="201" name="ObjSep"/>
          <p:cNvSpPr/>
          <p:nvPr/>
        </p:nvSpPr>
        <p:spPr>
          <a:xfrm>
            <a:off x="228600" y="2519680"/>
            <a:ext cx="86868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36000" rIns="91440" bIns="36000" anchor="t"/>
          <a:lstStyle/>
          <a:p>
            <a:endParaRPr lang="en-US" sz="100" dirty="0"/>
          </a:p>
        </p:txBody>
      </p:sp>
      <p:sp>
        <p:nvSpPr>
          <p:cNvPr id="210" name="ObjRow0"/>
          <p:cNvSpPr/>
          <p:nvPr/>
        </p:nvSpPr>
        <p:spPr>
          <a:xfrm>
            <a:off x="228600" y="2621280"/>
            <a:ext cx="8686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 lang="en-US" sz="100" dirty="0"/>
          </a:p>
        </p:txBody>
      </p:sp>
      <p:sp>
        <p:nvSpPr>
          <p:cNvPr id="211" name="ObjStripe0"/>
          <p:cNvSpPr/>
          <p:nvPr/>
        </p:nvSpPr>
        <p:spPr>
          <a:xfrm>
            <a:off x="228600" y="2621280"/>
            <a:ext cx="50800" cy="482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36000" rIns="91440" bIns="36000" anchor="t"/>
          <a:lstStyle/>
          <a:p>
            <a:endParaRPr lang="en-US" sz="100" dirty="0"/>
          </a:p>
        </p:txBody>
      </p:sp>
      <p:sp>
        <p:nvSpPr>
          <p:cNvPr id="212" name="ObjNum0"/>
          <p:cNvSpPr/>
          <p:nvPr/>
        </p:nvSpPr>
        <p:spPr>
          <a:xfrm>
            <a:off x="381000" y="2710180"/>
            <a:ext cx="304800" cy="3048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213" name="ObjTitle0"/>
          <p:cNvSpPr/>
          <p:nvPr/>
        </p:nvSpPr>
        <p:spPr>
          <a:xfrm>
            <a:off x="787400" y="2621280"/>
            <a:ext cx="215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vs Evolutionary </a:t>
            </a:r>
            <a:r>
              <a:rPr lang="en-US" sz="11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4" name="ObjDesc0"/>
          <p:cNvSpPr/>
          <p:nvPr/>
        </p:nvSpPr>
        <p:spPr>
          <a:xfrm>
            <a:off x="2984500" y="262128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PPO outperform NSGA-II, and under what conditions?</a:t>
            </a:r>
          </a:p>
        </p:txBody>
      </p:sp>
      <p:sp>
        <p:nvSpPr>
          <p:cNvPr id="215" name="ObjRow1"/>
          <p:cNvSpPr/>
          <p:nvPr/>
        </p:nvSpPr>
        <p:spPr>
          <a:xfrm>
            <a:off x="228600" y="3154680"/>
            <a:ext cx="8686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 lang="en-US" sz="100" dirty="0"/>
          </a:p>
        </p:txBody>
      </p:sp>
      <p:sp>
        <p:nvSpPr>
          <p:cNvPr id="216" name="ObjStripe1"/>
          <p:cNvSpPr/>
          <p:nvPr/>
        </p:nvSpPr>
        <p:spPr>
          <a:xfrm>
            <a:off x="228600" y="3154680"/>
            <a:ext cx="50800" cy="482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36000" rIns="91440" bIns="36000" anchor="t"/>
          <a:lstStyle/>
          <a:p>
            <a:endParaRPr lang="en-US" sz="100" dirty="0"/>
          </a:p>
        </p:txBody>
      </p:sp>
      <p:sp>
        <p:nvSpPr>
          <p:cNvPr id="217" name="ObjNum1"/>
          <p:cNvSpPr/>
          <p:nvPr/>
        </p:nvSpPr>
        <p:spPr>
          <a:xfrm>
            <a:off x="381000" y="3243580"/>
            <a:ext cx="304800" cy="3048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218" name="ObjTitle1"/>
          <p:cNvSpPr/>
          <p:nvPr/>
        </p:nvSpPr>
        <p:spPr>
          <a:xfrm>
            <a:off x="787400" y="3154680"/>
            <a:ext cx="215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Evaluation</a:t>
            </a:r>
          </a:p>
        </p:txBody>
      </p:sp>
      <p:sp>
        <p:nvSpPr>
          <p:cNvPr id="219" name="ObjDesc1"/>
          <p:cNvSpPr/>
          <p:nvPr/>
        </p:nvSpPr>
        <p:spPr>
          <a:xfrm>
            <a:off x="2984500" y="315468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Pareto-based policy selection across return, maximum drawdown, and concentration</a:t>
            </a:r>
          </a:p>
        </p:txBody>
      </p:sp>
      <p:sp>
        <p:nvSpPr>
          <p:cNvPr id="220" name="ObjRow2"/>
          <p:cNvSpPr/>
          <p:nvPr/>
        </p:nvSpPr>
        <p:spPr>
          <a:xfrm>
            <a:off x="228600" y="3688080"/>
            <a:ext cx="8686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 lang="en-US" sz="100" dirty="0"/>
          </a:p>
        </p:txBody>
      </p:sp>
      <p:sp>
        <p:nvSpPr>
          <p:cNvPr id="221" name="ObjStripe2"/>
          <p:cNvSpPr/>
          <p:nvPr/>
        </p:nvSpPr>
        <p:spPr>
          <a:xfrm>
            <a:off x="228600" y="3688080"/>
            <a:ext cx="50800" cy="482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36000" rIns="91440" bIns="36000" anchor="t"/>
          <a:lstStyle/>
          <a:p>
            <a:endParaRPr lang="en-US" sz="100" dirty="0"/>
          </a:p>
        </p:txBody>
      </p:sp>
      <p:sp>
        <p:nvSpPr>
          <p:cNvPr id="222" name="ObjNum2"/>
          <p:cNvSpPr/>
          <p:nvPr/>
        </p:nvSpPr>
        <p:spPr>
          <a:xfrm>
            <a:off x="381000" y="3776980"/>
            <a:ext cx="304800" cy="3048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23" name="ObjTitle2"/>
          <p:cNvSpPr/>
          <p:nvPr/>
        </p:nvSpPr>
        <p:spPr>
          <a:xfrm>
            <a:off x="787400" y="3688080"/>
            <a:ext cx="215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Rigour</a:t>
            </a:r>
          </a:p>
        </p:txBody>
      </p:sp>
      <p:sp>
        <p:nvSpPr>
          <p:cNvPr id="224" name="ObjDesc2"/>
          <p:cNvSpPr/>
          <p:nvPr/>
        </p:nvSpPr>
        <p:spPr>
          <a:xfrm>
            <a:off x="2984500" y="368808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 across 50 runs, </a:t>
            </a:r>
            <a:r>
              <a:rPr lang="en-US" sz="1000" dirty="0">
                <a:solidFill>
                  <a:srgbClr val="475569"/>
                </a:solidFill>
              </a:rPr>
              <a:t>plus an additional held-out test period to confirm results </a:t>
            </a:r>
            <a:r>
              <a:rPr lang="en-US" sz="1000" dirty="0" err="1">
                <a:solidFill>
                  <a:srgbClr val="475569"/>
                </a:solidFill>
              </a:rPr>
              <a:t>generalise</a:t>
            </a:r>
            <a:endParaRPr lang="en-US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5" name="ObjRow3"/>
          <p:cNvSpPr/>
          <p:nvPr/>
        </p:nvSpPr>
        <p:spPr>
          <a:xfrm>
            <a:off x="228600" y="4221480"/>
            <a:ext cx="8686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 lang="en-US" sz="100" dirty="0"/>
          </a:p>
        </p:txBody>
      </p:sp>
      <p:sp>
        <p:nvSpPr>
          <p:cNvPr id="226" name="ObjStripe3"/>
          <p:cNvSpPr/>
          <p:nvPr/>
        </p:nvSpPr>
        <p:spPr>
          <a:xfrm>
            <a:off x="228600" y="4221480"/>
            <a:ext cx="50800" cy="482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lIns="91440" tIns="36000" rIns="91440" bIns="36000" anchor="t"/>
          <a:lstStyle/>
          <a:p>
            <a:endParaRPr lang="en-US" sz="100" dirty="0"/>
          </a:p>
        </p:txBody>
      </p:sp>
      <p:sp>
        <p:nvSpPr>
          <p:cNvPr id="227" name="ObjNum3"/>
          <p:cNvSpPr/>
          <p:nvPr/>
        </p:nvSpPr>
        <p:spPr>
          <a:xfrm>
            <a:off x="381000" y="4310380"/>
            <a:ext cx="304800" cy="3048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228" name="ObjTitle3"/>
          <p:cNvSpPr/>
          <p:nvPr/>
        </p:nvSpPr>
        <p:spPr>
          <a:xfrm>
            <a:off x="787400" y="4221480"/>
            <a:ext cx="215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Integration</a:t>
            </a:r>
          </a:p>
        </p:txBody>
      </p:sp>
      <p:sp>
        <p:nvSpPr>
          <p:cNvPr id="229" name="ObjDesc3"/>
          <p:cNvSpPr/>
          <p:nvPr/>
        </p:nvSpPr>
        <p:spPr>
          <a:xfrm>
            <a:off x="2984500" y="4221480"/>
            <a:ext cx="584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GARCH volatility forecasts improve learned policies</a:t>
            </a:r>
          </a:p>
        </p:txBody>
      </p:sp>
    </p:spTree>
    <p:extLst>
      <p:ext uri="{BB962C8B-B14F-4D97-AF65-F5344CB8AC3E}">
        <p14:creationId xmlns:p14="http://schemas.microsoft.com/office/powerpoint/2010/main" val="260770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8892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332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96926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patterns in historical data do not reliably persist. Markets shift suddenly without warning, making fixed-parameter models unreliable.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86868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154680" y="868680"/>
            <a:ext cx="2788920" cy="54864"/>
          </a:xfrm>
          <a:prstGeom prst="rect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332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96926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57276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mean-variance optimisation assumes a fixed covariance matrix, which is structurally incompatible with regime changes in non-stationary markets.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86868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6080760" y="8686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3327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02552" y="96926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1572768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frames portfolio management as a Markov Decision Process, learning adaptive behaviour directly from market experience rather than assuming stability.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28600" y="2743200"/>
            <a:ext cx="15544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228600" y="2788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27432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(+ Cash)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965960" y="2743200"/>
            <a:ext cx="15544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1965960" y="2788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years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201168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703320" y="2743200"/>
            <a:ext cx="15544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3703320" y="2788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374904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40680" y="2743200"/>
            <a:ext cx="15544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5440680" y="2788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548640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Days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178040" y="2743200"/>
            <a:ext cx="155448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7178040" y="2788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722376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Test Days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28600" y="38587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Daily price data spans June 2012 to December 2025, covering multiple distinct market regimes.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6560" y="77724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6560" y="777240"/>
            <a:ext cx="192024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8000" y="841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8000" y="128016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Tiingo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Prices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Volatility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6800" y="162763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565400" y="77724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65400" y="77724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56840" y="841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6840" y="128016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(SB3)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RL Variants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Static &amp; Rolling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5640" y="162763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14240" y="77724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14240" y="77724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5680" y="841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5680" y="128016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MDD, HHI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34480" y="1627632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63080" y="77724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863080" y="77724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54520" y="841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MOO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54520" y="128016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Dominance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HHI, MDD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= 0.005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560" y="2743200"/>
            <a:ext cx="4064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6560" y="274320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99440" y="2852928"/>
            <a:ext cx="373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(PPO)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9440" y="3246120"/>
            <a:ext cx="3733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PureReturn, LogReturn, HighHHI, LowVolatility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40-day normalised price window +/- GARCH forecasts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continuous weight vector (long-only)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EvalCallback picks best checkpoint on eval 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4240" y="2743200"/>
            <a:ext cx="4064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14240" y="2743200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92040" y="2852928"/>
            <a:ext cx="373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Optimisation (NSGA-II)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3733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eval set, pop=80, gen=50, fixed action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every 10 days on most recent 40-day window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return + Max Drawdown (2-obj Pareto)
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Distance-to-utopia (0.65 return weight, 0.35 MDD)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Ratio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configuration best run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1920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192024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2316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4447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configuration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04672"/>
            <a:ext cx="1920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1920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4447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900" baseline="-25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GB" sz="900" dirty="0">
                <a:solidFill>
                  <a:srgbClr val="94A3B8"/>
                </a:solidFill>
              </a:rPr>
              <a:t>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</a:t>
            </a:r>
            <a:r>
              <a:rPr lang="en-US" sz="9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ratio </a:t>
            </a:r>
            <a:r>
              <a:rPr lang="en-GB" sz="9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≤</a:t>
            </a:r>
            <a:r>
              <a:rPr lang="en-GB" sz="900" dirty="0">
                <a:solidFill>
                  <a:srgbClr val="94A3B8"/>
                </a:solidFill>
              </a:rPr>
              <a:t> 0, all Large runs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20840" y="804672"/>
            <a:ext cx="1920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720840" y="804672"/>
            <a:ext cx="1920240" cy="502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2084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14447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Wins (Large)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never dominated</a:t>
            </a:r>
            <a:endParaRPr lang="en-US" sz="9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FC8B2C8-3811-498C-9E66-52595C0BB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117590"/>
              </p:ext>
            </p:extLst>
          </p:nvPr>
        </p:nvGraphicFramePr>
        <p:xfrm>
          <a:off x="274320" y="2339340"/>
          <a:ext cx="8595356" cy="2176272"/>
        </p:xfrm>
        <a:graphic>
          <a:graphicData uri="http://schemas.openxmlformats.org/drawingml/2006/table">
            <a:tbl>
              <a:tblPr firstRow="1" bandRow="1"/>
              <a:tblGrid>
                <a:gridCol w="1227908">
                  <a:extLst>
                    <a:ext uri="{9D8B030D-6E8A-4147-A177-3AD203B41FA5}">
                      <a16:colId xmlns:a16="http://schemas.microsoft.com/office/drawing/2014/main" val="1162865958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739452823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1382917404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123557542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353901712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4280685784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308584981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Mean Return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Mean Sharpe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Mean MDD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Mean p-value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>
                          <a:solidFill>
                            <a:srgbClr val="FFFFFF"/>
                          </a:solidFill>
                        </a:rPr>
                        <a:t>Mean HHI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Transaction Cost 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24497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Large (747 days)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1.954 +/- 0.254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1.265 +/- 0.142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-0.150 +/- 0.034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0.012 +/- 0.009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0.270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9.38%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01675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Augmented Large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1.881 +/- 0.247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1.232 +/- 0.110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-0.148 +/- 0.040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0.012 +/- 0.008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0.198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7.05%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5673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Baseline Large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1.739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1.182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-0.141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0.014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0.083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9578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Small (207 days)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1.225 +/- 0.056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1.523 +/- 0.316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-0.077 +/- 0.022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0.080 +/- 0.040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0.405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2.73%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5764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Augmented Small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1.224 +/- 0.072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1.412 +/- 0.333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 dirty="0"/>
                        <a:t>-0.084 +/- 0.023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0.094 +/- 0.042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0.387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2.37%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84089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950" b="0"/>
                        <a:t>Baseline Small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1.136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1.077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-0.067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 dirty="0"/>
                        <a:t>0.147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/>
                        <a:t>0.083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 dirty="0"/>
                        <a:t>0.0%</a:t>
                      </a:r>
                    </a:p>
                  </a:txBody>
                  <a:tcPr marT="28448" marB="28448" anchor="ctr">
                    <a:lnL w="6350" cap="flat" cmpd="sng">
                      <a:solidFill>
                        <a:srgbClr val="8EAADB"/>
                      </a:solidFill>
                    </a:lnL>
                    <a:lnR w="6350" cap="flat" cmpd="sng">
                      <a:solidFill>
                        <a:srgbClr val="8EAADB"/>
                      </a:solidFill>
                    </a:lnR>
                    <a:lnT w="6350" cap="flat" cmpd="sng">
                      <a:solidFill>
                        <a:srgbClr val="8EAADB"/>
                      </a:solidFill>
                    </a:lnT>
                    <a:lnB w="6350" cap="flat" cmpd="sng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0281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FDBDD301-D450-4095-879E-46522D26F0E8}"/>
              </a:ext>
            </a:extLst>
          </p:cNvPr>
          <p:cNvSpPr txBox="1"/>
          <p:nvPr/>
        </p:nvSpPr>
        <p:spPr>
          <a:xfrm>
            <a:off x="271776" y="4686808"/>
            <a:ext cx="85979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 dirty="0">
                <a:solidFill>
                  <a:srgbClr val="64748B"/>
                </a:solidFill>
              </a:rPr>
              <a:t>Augmented configurations have portfolio weights added to the agent's observation space, allowing them to see their current portfolio allocations.</a:t>
            </a:r>
            <a:endParaRPr lang="en-GB" sz="1000" i="1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87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32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Significance Against Equal-Weight Baseline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353312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achieved best Sharpe but only 2/50 runs were statistically significant against the equal-weight bootstrap baseline, with 0/50 significant under Jobson-Korkie. Large had 0/50 runs that were statistically significant against the equal-weight baseline under either test.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709160" y="804672"/>
            <a:ext cx="6400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932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PPO Deployment Limitation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73752" y="1353312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PPO agent is frozen after training and cannot update its weights during testing. Over a 3-year Large test period, structural market changes after training cannot be adapted to without periodic retraining.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81635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274320" y="2816352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9443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9077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Zero-Correlation Approximation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38912" y="3364992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LowVolatility reward computes portfolio variance assuming zero cross-asset correlation. This underestimates true risk when assets are positively correlated, which commonly occurs during market stress.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81635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4709160" y="2816352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9443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9077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DCC-GARCH Did Not Improve Results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73752" y="3364992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DCC-GARCH modelled time-varying correlations across all 11 assets but showed no measurable improvement over independent GARCH(1,1). The added covariance complexity likely increased reward noise without providing a cleaner learning gradient for PPO.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8701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Behaviour Under Market Stress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889F0-0D05-4D03-BA0A-76BC7E54F703}"/>
              </a:ext>
            </a:extLst>
          </p:cNvPr>
          <p:cNvSpPr txBox="1"/>
          <p:nvPr/>
        </p:nvSpPr>
        <p:spPr>
          <a:xfrm>
            <a:off x="0" y="4645451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475569"/>
                </a:solidFill>
              </a:rPr>
              <a:t>Days 550–600: Agent shifts from equities into cash and gold ahead of the August 2024 Bank of Japan sell-off, demonstrating genuine learned risk awareness.</a:t>
            </a:r>
            <a:endParaRPr lang="en-GB" sz="1000" i="1" dirty="0">
              <a:solidFill>
                <a:srgbClr val="47556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80E5B-0AB0-D9F5-A600-CE070ACB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736600"/>
            <a:ext cx="4648200" cy="386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1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Robustness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8F515-F01E-41B6-92A9-37A55E72E0E8}"/>
              </a:ext>
            </a:extLst>
          </p:cNvPr>
          <p:cNvSpPr txBox="1"/>
          <p:nvPr/>
        </p:nvSpPr>
        <p:spPr>
          <a:xfrm>
            <a:off x="635000" y="736600"/>
            <a:ext cx="4216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000" b="1" dirty="0">
                <a:solidFill>
                  <a:srgbClr val="1E293B"/>
                </a:solidFill>
              </a:rPr>
              <a:t>Standard Test Window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FE161-D1E2-49C5-A28B-BE23EB8ADE6F}"/>
              </a:ext>
            </a:extLst>
          </p:cNvPr>
          <p:cNvSpPr txBox="1"/>
          <p:nvPr/>
        </p:nvSpPr>
        <p:spPr>
          <a:xfrm>
            <a:off x="4991100" y="736600"/>
            <a:ext cx="42164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1E293B"/>
                </a:solidFill>
              </a:rPr>
              <a:t>Extra Test Window (Same Frozen Policy)</a:t>
            </a:r>
            <a:endParaRPr lang="en-GB" sz="1000" b="1" dirty="0">
              <a:solidFill>
                <a:srgbClr val="1E293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238CF-B399-4F8C-AD43-1C776102BB39}"/>
              </a:ext>
            </a:extLst>
          </p:cNvPr>
          <p:cNvSpPr txBox="1"/>
          <p:nvPr/>
        </p:nvSpPr>
        <p:spPr>
          <a:xfrm>
            <a:off x="635000" y="4672850"/>
            <a:ext cx="787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475569"/>
                </a:solidFill>
              </a:rPr>
              <a:t>Frozen </a:t>
            </a:r>
            <a:r>
              <a:rPr lang="en-US" sz="1000" i="1" dirty="0" err="1">
                <a:solidFill>
                  <a:srgbClr val="475569"/>
                </a:solidFill>
              </a:rPr>
              <a:t>HighHHI</a:t>
            </a:r>
            <a:r>
              <a:rPr lang="en-US" sz="1000" i="1" dirty="0">
                <a:solidFill>
                  <a:srgbClr val="475569"/>
                </a:solidFill>
              </a:rPr>
              <a:t> policy </a:t>
            </a:r>
            <a:r>
              <a:rPr lang="en-US" sz="1000" i="1" dirty="0" err="1">
                <a:solidFill>
                  <a:srgbClr val="475569"/>
                </a:solidFill>
              </a:rPr>
              <a:t>generalises</a:t>
            </a:r>
            <a:r>
              <a:rPr lang="en-US" sz="1000" i="1" dirty="0">
                <a:solidFill>
                  <a:srgbClr val="475569"/>
                </a:solidFill>
              </a:rPr>
              <a:t> to an unseen test period, ruling out overfitting to a single market regime.</a:t>
            </a:r>
            <a:endParaRPr lang="en-GB" sz="1000" i="1" dirty="0">
              <a:solidFill>
                <a:srgbClr val="475569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16612C-A2FE-F0E9-B329-FD2F4BC3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992632"/>
            <a:ext cx="4216400" cy="35024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161566-04FE-C478-F1C8-563567A67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992632"/>
            <a:ext cx="4216400" cy="350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8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4241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Dominates with Sufficient Training Data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1444752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Large configuration RL was selected by the Pareto filter in 100% of 50 runs, all achieving p &lt; 0.05 against risk-free rate, confirming that PPO learns robust adaptive policies that consistently outperform both NSGA-II and the passive equal-weight benchmark.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04241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058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Post-Hoc MOO Framework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73752" y="1444752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3-objective Pareto dominance filter (return, MDD, HHI) provides a principled selection mechanism across stochastic PPO runs. It avoids collapsing trade-offs into a single metric and is well-suited to the variance inherent in RL training.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9626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926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NSGA-II as a Safety Net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38912" y="3364992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provided a valuable fallback in 7/50 Small config runs when RL underperformed, delivering consistent, low-turnover, concentrated portfolios. However, it was never selected in runs where RL succeeded, confirming its role as backup rather than rival.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09160" y="283464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9626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26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&amp; Realistic Evaluation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73752" y="3364992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are net of a genuine 0.1% institutional brokerage fee. The best Large run achieved 2.21x return and Sharpe 1.68 over 3 years, with portfolio weights visibly adapting to market stress events including the August 2024 global sell-off.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Periodic PPO Retraining  |  Online RL |  Live Market Deployment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4080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332B2-8F6D-2ABA-9F06-B6FBFC8B86AC}"/>
              </a:ext>
            </a:extLst>
          </p:cNvPr>
          <p:cNvSpPr txBox="1"/>
          <p:nvPr/>
        </p:nvSpPr>
        <p:spPr>
          <a:xfrm>
            <a:off x="1937801" y="1123350"/>
            <a:ext cx="4699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00001111 SR = 1</a:t>
            </a:r>
          </a:p>
          <a:p>
            <a:endParaRPr lang="en-GB" dirty="0"/>
          </a:p>
          <a:p>
            <a:r>
              <a:rPr lang="en-GB" dirty="0"/>
              <a:t>1111 0000 0011</a:t>
            </a:r>
          </a:p>
          <a:p>
            <a:endParaRPr lang="en-GB" dirty="0"/>
          </a:p>
          <a:p>
            <a:r>
              <a:rPr lang="en-GB" dirty="0"/>
              <a:t>0000 0000 SR = 0</a:t>
            </a:r>
          </a:p>
          <a:p>
            <a:endParaRPr lang="en-GB" dirty="0"/>
          </a:p>
          <a:p>
            <a:r>
              <a:rPr lang="en-GB" dirty="0"/>
              <a:t>1111 1111 SR = 2</a:t>
            </a:r>
          </a:p>
        </p:txBody>
      </p:sp>
    </p:spTree>
    <p:extLst>
      <p:ext uri="{BB962C8B-B14F-4D97-AF65-F5344CB8AC3E}">
        <p14:creationId xmlns:p14="http://schemas.microsoft.com/office/powerpoint/2010/main" val="238273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4764B6-1C1D-480D-B1BF-384720F2C102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1039</Words>
  <Application>Microsoft Office PowerPoint</Application>
  <PresentationFormat>On-screen Show (16:9)</PresentationFormat>
  <Paragraphs>166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Multi-Objective Portfolio Optimisation</dc:title>
  <dc:subject>PptxGenJS Presentation</dc:subject>
  <dc:creator>PptxGenJS</dc:creator>
  <cp:lastModifiedBy>Matty Woodcock</cp:lastModifiedBy>
  <cp:revision>19</cp:revision>
  <dcterms:created xsi:type="dcterms:W3CDTF">2026-03-25T19:17:58Z</dcterms:created>
  <dcterms:modified xsi:type="dcterms:W3CDTF">2026-03-27T22:36:05Z</dcterms:modified>
</cp:coreProperties>
</file>