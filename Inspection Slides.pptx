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73" r:id="rId3"/>
    <p:sldId id="257" r:id="rId4"/>
    <p:sldId id="258" r:id="rId5"/>
    <p:sldId id="267" r:id="rId6"/>
    <p:sldId id="263" r:id="rId7"/>
    <p:sldId id="264" r:id="rId8"/>
    <p:sldId id="266" r:id="rId9"/>
    <p:sldId id="268" r:id="rId10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475569"/>
    <a:srgbClr val="94A3B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6" d="100"/>
          <a:sy n="126" d="100"/>
        </p:scale>
        <p:origin x="202" y="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35038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1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4" name="Shape 2"/>
          <p:cNvSpPr/>
          <p:nvPr/>
        </p:nvSpPr>
        <p:spPr>
          <a:xfrm>
            <a:off x="5669280" y="-1097280"/>
            <a:ext cx="5486400" cy="5486400"/>
          </a:xfrm>
          <a:prstGeom prst="ellipse">
            <a:avLst/>
          </a:prstGeom>
          <a:solidFill>
            <a:srgbClr val="0D9488">
              <a:alpha val="15000"/>
            </a:srgbClr>
          </a:solidFill>
          <a:ln w="12700">
            <a:solidFill>
              <a:srgbClr val="0D9488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1371600"/>
            <a:ext cx="1645920" cy="164592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457200" y="100584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Portfolio</a:t>
            </a:r>
            <a:endParaRPr lang="en-US" sz="3800" dirty="0"/>
          </a:p>
          <a:p>
            <a:pPr marL="0" indent="0" algn="l">
              <a:buNone/>
            </a:pPr>
            <a:r>
              <a:rPr lang="en-US" sz="3800" b="1" dirty="0" err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3800" dirty="0"/>
          </a:p>
        </p:txBody>
      </p:sp>
      <p:sp>
        <p:nvSpPr>
          <p:cNvPr id="7" name="Text 4"/>
          <p:cNvSpPr/>
          <p:nvPr/>
        </p:nvSpPr>
        <p:spPr>
          <a:xfrm>
            <a:off x="457200" y="2788920"/>
            <a:ext cx="6858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600" dirty="0">
                <a:solidFill>
                  <a:srgbClr val="93C5F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Using Reinforcement Learning &amp; Evolutionary Algorithms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457200" y="3337560"/>
            <a:ext cx="6858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Matthew Woodcock  •  Supervised by Professor Peter Tino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457200" y="44348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 |  NSGA-II  |  GARCH  |  11-Asset Universe  |  Significance Testing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0F4F8">
            <a:alpha val="10000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HeaderBar"/>
          <p:cNvSpPr/>
          <p:nvPr/>
        </p:nvSpPr>
        <p:spPr>
          <a:xfrm>
            <a:off x="0" y="0"/>
            <a:ext cx="9144000" cy="660400"/>
          </a:xfrm>
          <a:prstGeom prst="rect">
            <a:avLst/>
          </a:prstGeom>
          <a:solidFill>
            <a:srgbClr val="1A2456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marL="0" indent="0" algn="l">
              <a:buNone/>
            </a:pPr>
            <a:endParaRPr lang="en-US" sz="1000" dirty="0"/>
          </a:p>
        </p:txBody>
      </p:sp>
      <p:sp>
        <p:nvSpPr>
          <p:cNvPr id="102" name="IntroCardBg"/>
          <p:cNvSpPr/>
          <p:nvPr/>
        </p:nvSpPr>
        <p:spPr>
          <a:xfrm>
            <a:off x="228600" y="863600"/>
            <a:ext cx="8686800" cy="124968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 sz="1000" dirty="0"/>
          </a:p>
        </p:txBody>
      </p:sp>
      <p:sp>
        <p:nvSpPr>
          <p:cNvPr id="103" name="IntroAccent"/>
          <p:cNvSpPr/>
          <p:nvPr/>
        </p:nvSpPr>
        <p:spPr>
          <a:xfrm>
            <a:off x="228600" y="863600"/>
            <a:ext cx="8686800" cy="508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wrap="square" lIns="91440" tIns="45720" rIns="91440" bIns="45720" anchor="t"/>
          <a:lstStyle/>
          <a:p>
            <a:endParaRPr lang="en-US" sz="1000" dirty="0"/>
          </a:p>
        </p:txBody>
      </p:sp>
      <p:sp>
        <p:nvSpPr>
          <p:cNvPr id="104" name="IntroTitle"/>
          <p:cNvSpPr/>
          <p:nvPr/>
        </p:nvSpPr>
        <p:spPr>
          <a:xfrm>
            <a:off x="368300" y="965200"/>
            <a:ext cx="3556000" cy="381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1300" dirty="0"/>
          </a:p>
        </p:txBody>
      </p:sp>
      <p:sp>
        <p:nvSpPr>
          <p:cNvPr id="105" name="IntroBody"/>
          <p:cNvSpPr/>
          <p:nvPr/>
        </p:nvSpPr>
        <p:spPr>
          <a:xfrm>
            <a:off x="368300" y="1320800"/>
            <a:ext cx="8432800" cy="2032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txBody>
          <a:bodyPr wrap="square" lIns="91440" tIns="45720" rIns="91440" bIns="45720" anchor="t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management requires balancing return and risk across changing market conditions, yet most classical approaches assume stability. This project builds and evaluates a </a:t>
            </a: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agent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an </a:t>
            </a: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evolutionary optimiser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, both capable of dynamically adapting to shifting market conditions, tested rigorously on a realistic asset universe with genuine </a:t>
            </a: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costs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and </a:t>
            </a:r>
            <a:r>
              <a:rPr lang="en-US" sz="105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testing</a:t>
            </a: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</a:t>
            </a:r>
            <a:endParaRPr lang="en-US" sz="105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2CFC72-26D8-17A2-360F-D51DAED158EC}"/>
              </a:ext>
            </a:extLst>
          </p:cNvPr>
          <p:cNvSpPr txBox="1"/>
          <p:nvPr/>
        </p:nvSpPr>
        <p:spPr>
          <a:xfrm>
            <a:off x="228600" y="131664"/>
            <a:ext cx="4884420" cy="43088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Introduction &amp; Objectives</a:t>
            </a:r>
            <a:endParaRPr lang="en-US" sz="2200" dirty="0"/>
          </a:p>
        </p:txBody>
      </p:sp>
      <p:sp>
        <p:nvSpPr>
          <p:cNvPr id="200" name="ObjHeader"/>
          <p:cNvSpPr/>
          <p:nvPr/>
        </p:nvSpPr>
        <p:spPr>
          <a:xfrm>
            <a:off x="228600" y="2240280"/>
            <a:ext cx="2540000" cy="2794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t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Objectives</a:t>
            </a:r>
          </a:p>
        </p:txBody>
      </p:sp>
      <p:sp>
        <p:nvSpPr>
          <p:cNvPr id="201" name="ObjSep"/>
          <p:cNvSpPr/>
          <p:nvPr/>
        </p:nvSpPr>
        <p:spPr>
          <a:xfrm>
            <a:off x="228600" y="2519680"/>
            <a:ext cx="8686800" cy="1905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 lang="en-US" sz="100" dirty="0"/>
          </a:p>
        </p:txBody>
      </p:sp>
      <p:sp>
        <p:nvSpPr>
          <p:cNvPr id="210" name="ObjRow0"/>
          <p:cNvSpPr/>
          <p:nvPr/>
        </p:nvSpPr>
        <p:spPr>
          <a:xfrm>
            <a:off x="228600" y="2621280"/>
            <a:ext cx="8686800" cy="48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endParaRPr lang="en-US" sz="100" dirty="0"/>
          </a:p>
        </p:txBody>
      </p:sp>
      <p:sp>
        <p:nvSpPr>
          <p:cNvPr id="211" name="ObjStripe0"/>
          <p:cNvSpPr/>
          <p:nvPr/>
        </p:nvSpPr>
        <p:spPr>
          <a:xfrm>
            <a:off x="228600" y="2621280"/>
            <a:ext cx="50800" cy="482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 lang="en-US" sz="100" dirty="0"/>
          </a:p>
        </p:txBody>
      </p:sp>
      <p:sp>
        <p:nvSpPr>
          <p:cNvPr id="212" name="ObjNum0"/>
          <p:cNvSpPr/>
          <p:nvPr/>
        </p:nvSpPr>
        <p:spPr>
          <a:xfrm>
            <a:off x="381000" y="2710180"/>
            <a:ext cx="304800" cy="3048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</a:p>
        </p:txBody>
      </p:sp>
      <p:sp>
        <p:nvSpPr>
          <p:cNvPr id="213" name="ObjTitle0"/>
          <p:cNvSpPr/>
          <p:nvPr/>
        </p:nvSpPr>
        <p:spPr>
          <a:xfrm>
            <a:off x="787400" y="2621280"/>
            <a:ext cx="215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vs Evolutionary </a:t>
            </a:r>
            <a:r>
              <a:rPr lang="en-US" sz="1100" b="1" dirty="0" err="1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Optimisation</a:t>
            </a:r>
            <a:endParaRPr lang="en-US" sz="1100" b="1" dirty="0">
              <a:solidFill>
                <a:srgbClr val="0F172A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14" name="ObjDesc0"/>
          <p:cNvSpPr/>
          <p:nvPr/>
        </p:nvSpPr>
        <p:spPr>
          <a:xfrm>
            <a:off x="2984500" y="2621280"/>
            <a:ext cx="5842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Does PPO outperform NSGA-II, and under what conditions?</a:t>
            </a:r>
          </a:p>
        </p:txBody>
      </p:sp>
      <p:sp>
        <p:nvSpPr>
          <p:cNvPr id="215" name="ObjRow1"/>
          <p:cNvSpPr/>
          <p:nvPr/>
        </p:nvSpPr>
        <p:spPr>
          <a:xfrm>
            <a:off x="228600" y="3154680"/>
            <a:ext cx="8686800" cy="48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endParaRPr lang="en-US" sz="100" dirty="0"/>
          </a:p>
        </p:txBody>
      </p:sp>
      <p:sp>
        <p:nvSpPr>
          <p:cNvPr id="216" name="ObjStripe1"/>
          <p:cNvSpPr/>
          <p:nvPr/>
        </p:nvSpPr>
        <p:spPr>
          <a:xfrm>
            <a:off x="228600" y="3154680"/>
            <a:ext cx="50800" cy="482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 lang="en-US" sz="100" dirty="0"/>
          </a:p>
        </p:txBody>
      </p:sp>
      <p:sp>
        <p:nvSpPr>
          <p:cNvPr id="217" name="ObjNum1"/>
          <p:cNvSpPr/>
          <p:nvPr/>
        </p:nvSpPr>
        <p:spPr>
          <a:xfrm>
            <a:off x="381000" y="3243580"/>
            <a:ext cx="304800" cy="3048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</a:p>
        </p:txBody>
      </p:sp>
      <p:sp>
        <p:nvSpPr>
          <p:cNvPr id="218" name="ObjTitle1"/>
          <p:cNvSpPr/>
          <p:nvPr/>
        </p:nvSpPr>
        <p:spPr>
          <a:xfrm>
            <a:off x="787400" y="3154680"/>
            <a:ext cx="215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Multi-Objective Evaluation</a:t>
            </a:r>
          </a:p>
        </p:txBody>
      </p:sp>
      <p:sp>
        <p:nvSpPr>
          <p:cNvPr id="219" name="ObjDesc1"/>
          <p:cNvSpPr/>
          <p:nvPr/>
        </p:nvSpPr>
        <p:spPr>
          <a:xfrm>
            <a:off x="2984500" y="3154680"/>
            <a:ext cx="5842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Pareto-based policy selection across return, drawdown, and concentration</a:t>
            </a:r>
          </a:p>
        </p:txBody>
      </p:sp>
      <p:sp>
        <p:nvSpPr>
          <p:cNvPr id="220" name="ObjRow2"/>
          <p:cNvSpPr/>
          <p:nvPr/>
        </p:nvSpPr>
        <p:spPr>
          <a:xfrm>
            <a:off x="228600" y="3688080"/>
            <a:ext cx="8686800" cy="48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endParaRPr lang="en-US" sz="100" dirty="0"/>
          </a:p>
        </p:txBody>
      </p:sp>
      <p:sp>
        <p:nvSpPr>
          <p:cNvPr id="221" name="ObjStripe2"/>
          <p:cNvSpPr/>
          <p:nvPr/>
        </p:nvSpPr>
        <p:spPr>
          <a:xfrm>
            <a:off x="228600" y="3688080"/>
            <a:ext cx="50800" cy="482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 lang="en-US" sz="100" dirty="0"/>
          </a:p>
        </p:txBody>
      </p:sp>
      <p:sp>
        <p:nvSpPr>
          <p:cNvPr id="222" name="ObjNum2"/>
          <p:cNvSpPr/>
          <p:nvPr/>
        </p:nvSpPr>
        <p:spPr>
          <a:xfrm>
            <a:off x="381000" y="3776980"/>
            <a:ext cx="304800" cy="3048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</a:p>
        </p:txBody>
      </p:sp>
      <p:sp>
        <p:nvSpPr>
          <p:cNvPr id="223" name="ObjTitle2"/>
          <p:cNvSpPr/>
          <p:nvPr/>
        </p:nvSpPr>
        <p:spPr>
          <a:xfrm>
            <a:off x="787400" y="3688080"/>
            <a:ext cx="215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Rigour</a:t>
            </a:r>
          </a:p>
        </p:txBody>
      </p:sp>
      <p:sp>
        <p:nvSpPr>
          <p:cNvPr id="224" name="ObjDesc2"/>
          <p:cNvSpPr/>
          <p:nvPr/>
        </p:nvSpPr>
        <p:spPr>
          <a:xfrm>
            <a:off x="2984500" y="3688080"/>
            <a:ext cx="5842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Significance testing across 50 runs, </a:t>
            </a:r>
            <a:r>
              <a:rPr lang="en-US" sz="1000" dirty="0">
                <a:solidFill>
                  <a:srgbClr val="475569"/>
                </a:solidFill>
              </a:rPr>
              <a:t>plus an additional held-out test period to confirm results </a:t>
            </a:r>
            <a:r>
              <a:rPr lang="en-US" sz="1000" dirty="0" err="1">
                <a:solidFill>
                  <a:srgbClr val="475569"/>
                </a:solidFill>
              </a:rPr>
              <a:t>generalise</a:t>
            </a:r>
            <a:endParaRPr lang="en-US" sz="1000" dirty="0">
              <a:solidFill>
                <a:srgbClr val="475569"/>
              </a:solidFill>
              <a:latin typeface="Calibri" pitchFamily="34" charset="0"/>
              <a:ea typeface="Calibri" pitchFamily="34" charset="-122"/>
              <a:cs typeface="Calibri" pitchFamily="34" charset="-120"/>
            </a:endParaRPr>
          </a:p>
        </p:txBody>
      </p:sp>
      <p:sp>
        <p:nvSpPr>
          <p:cNvPr id="225" name="ObjRow3"/>
          <p:cNvSpPr/>
          <p:nvPr/>
        </p:nvSpPr>
        <p:spPr>
          <a:xfrm>
            <a:off x="228600" y="4221480"/>
            <a:ext cx="8686800" cy="482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</p:spPr>
        <p:txBody>
          <a:bodyPr wrap="square" lIns="91440" tIns="36000" rIns="91440" bIns="36000" anchor="ctr"/>
          <a:lstStyle/>
          <a:p>
            <a:endParaRPr lang="en-US" sz="100" dirty="0"/>
          </a:p>
        </p:txBody>
      </p:sp>
      <p:sp>
        <p:nvSpPr>
          <p:cNvPr id="226" name="ObjStripe3"/>
          <p:cNvSpPr/>
          <p:nvPr/>
        </p:nvSpPr>
        <p:spPr>
          <a:xfrm>
            <a:off x="228600" y="4221480"/>
            <a:ext cx="50800" cy="482600"/>
          </a:xfrm>
          <a:prstGeom prst="rect">
            <a:avLst/>
          </a:prstGeom>
          <a:solidFill>
            <a:srgbClr val="0369A1"/>
          </a:solidFill>
          <a:ln>
            <a:noFill/>
          </a:ln>
        </p:spPr>
        <p:txBody>
          <a:bodyPr wrap="square" lIns="91440" tIns="36000" rIns="91440" bIns="36000" anchor="t"/>
          <a:lstStyle/>
          <a:p>
            <a:endParaRPr lang="en-US" sz="100" dirty="0"/>
          </a:p>
        </p:txBody>
      </p:sp>
      <p:sp>
        <p:nvSpPr>
          <p:cNvPr id="227" name="ObjNum3"/>
          <p:cNvSpPr/>
          <p:nvPr/>
        </p:nvSpPr>
        <p:spPr>
          <a:xfrm>
            <a:off x="381000" y="4310380"/>
            <a:ext cx="304800" cy="304800"/>
          </a:xfrm>
          <a:prstGeom prst="ellipse">
            <a:avLst/>
          </a:prstGeom>
          <a:solidFill>
            <a:srgbClr val="0369A1"/>
          </a:solidFill>
          <a:ln>
            <a:noFill/>
          </a:ln>
        </p:spPr>
        <p:txBody>
          <a:bodyPr wrap="none" lIns="0" tIns="0" rIns="0" bIns="0" anchor="ctr"/>
          <a:lstStyle/>
          <a:p>
            <a:pPr algn="ctr"/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</a:p>
        </p:txBody>
      </p:sp>
      <p:sp>
        <p:nvSpPr>
          <p:cNvPr id="228" name="ObjTitle3"/>
          <p:cNvSpPr/>
          <p:nvPr/>
        </p:nvSpPr>
        <p:spPr>
          <a:xfrm>
            <a:off x="787400" y="4221480"/>
            <a:ext cx="2159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pPr marL="0" indent="0" algn="l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Volatility Integration</a:t>
            </a:r>
          </a:p>
        </p:txBody>
      </p:sp>
      <p:sp>
        <p:nvSpPr>
          <p:cNvPr id="229" name="ObjDesc3"/>
          <p:cNvSpPr/>
          <p:nvPr/>
        </p:nvSpPr>
        <p:spPr>
          <a:xfrm>
            <a:off x="2984500" y="4221480"/>
            <a:ext cx="5842000" cy="482600"/>
          </a:xfrm>
          <a:prstGeom prst="rect">
            <a:avLst/>
          </a:prstGeom>
          <a:noFill/>
          <a:ln>
            <a:noFill/>
          </a:ln>
        </p:spPr>
        <p:txBody>
          <a:bodyPr wrap="square" lIns="91440" tIns="36000" rIns="91440" bIns="3600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whether GARCH volatility forecasts improve learned policies</a:t>
            </a:r>
          </a:p>
        </p:txBody>
      </p:sp>
    </p:spTree>
    <p:extLst>
      <p:ext uri="{BB962C8B-B14F-4D97-AF65-F5344CB8AC3E}">
        <p14:creationId xmlns:p14="http://schemas.microsoft.com/office/powerpoint/2010/main" val="2607700979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 &amp; Motivation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28600" y="868680"/>
            <a:ext cx="2788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28600" y="868680"/>
            <a:ext cx="2788920" cy="5486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5760" y="1033272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850392" y="969264"/>
            <a:ext cx="2057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Non-Stationary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Markets</a:t>
            </a:r>
            <a:endParaRPr lang="en-US" sz="1300" dirty="0"/>
          </a:p>
        </p:txBody>
      </p:sp>
      <p:sp>
        <p:nvSpPr>
          <p:cNvPr id="8" name="Text 5"/>
          <p:cNvSpPr/>
          <p:nvPr/>
        </p:nvSpPr>
        <p:spPr>
          <a:xfrm>
            <a:off x="365760" y="1572768"/>
            <a:ext cx="25146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 patterns in historical data do not reliably persist. Markets shift suddenly without warning, making fixed-parameter models unreliable.</a:t>
            </a:r>
            <a:endParaRPr lang="en-US" sz="1050" dirty="0"/>
          </a:p>
        </p:txBody>
      </p:sp>
      <p:sp>
        <p:nvSpPr>
          <p:cNvPr id="9" name="Shape 6"/>
          <p:cNvSpPr/>
          <p:nvPr/>
        </p:nvSpPr>
        <p:spPr>
          <a:xfrm>
            <a:off x="3154680" y="868680"/>
            <a:ext cx="2788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3154680" y="868680"/>
            <a:ext cx="2788920" cy="54864"/>
          </a:xfrm>
          <a:prstGeom prst="rect">
            <a:avLst/>
          </a:prstGeom>
          <a:solidFill>
            <a:srgbClr val="E55050"/>
          </a:solidFill>
          <a:ln w="12700">
            <a:solidFill>
              <a:srgbClr val="E55050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291840" y="1033272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76472" y="969264"/>
            <a:ext cx="2057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Classical Methods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3291840" y="1572768"/>
            <a:ext cx="25146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Markowitz mean-variance optimisation assumes a fixed covariance matrix, which is structurally incompatible with regime changes in non-stationary markets.</a:t>
            </a:r>
            <a:endParaRPr lang="en-US" sz="1050" dirty="0"/>
          </a:p>
        </p:txBody>
      </p:sp>
      <p:sp>
        <p:nvSpPr>
          <p:cNvPr id="14" name="Shape 10"/>
          <p:cNvSpPr/>
          <p:nvPr/>
        </p:nvSpPr>
        <p:spPr>
          <a:xfrm>
            <a:off x="6080760" y="868680"/>
            <a:ext cx="2788920" cy="164592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1"/>
          <p:cNvSpPr/>
          <p:nvPr/>
        </p:nvSpPr>
        <p:spPr>
          <a:xfrm>
            <a:off x="6080760" y="868680"/>
            <a:ext cx="278892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17920" y="1033272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702552" y="969264"/>
            <a:ext cx="20574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</a:t>
            </a:r>
            <a:endParaRPr lang="en-US" sz="1300" dirty="0"/>
          </a:p>
          <a:p>
            <a:pPr marL="0" indent="0" algn="l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Solution</a:t>
            </a:r>
            <a:endParaRPr lang="en-US" sz="1300" dirty="0"/>
          </a:p>
        </p:txBody>
      </p:sp>
      <p:sp>
        <p:nvSpPr>
          <p:cNvPr id="18" name="Text 13"/>
          <p:cNvSpPr/>
          <p:nvPr/>
        </p:nvSpPr>
        <p:spPr>
          <a:xfrm>
            <a:off x="6217920" y="1572768"/>
            <a:ext cx="2514600" cy="8961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frames portfolio management as a Markov Decision Process, learning adaptive behaviour directly from market experience rather than assuming stability.</a:t>
            </a:r>
            <a:endParaRPr lang="en-US" sz="1050" dirty="0"/>
          </a:p>
        </p:txBody>
      </p:sp>
      <p:sp>
        <p:nvSpPr>
          <p:cNvPr id="19" name="Shape 14"/>
          <p:cNvSpPr/>
          <p:nvPr/>
        </p:nvSpPr>
        <p:spPr>
          <a:xfrm>
            <a:off x="228600" y="2743200"/>
            <a:ext cx="1554480" cy="960120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Text 15"/>
          <p:cNvSpPr/>
          <p:nvPr/>
        </p:nvSpPr>
        <p:spPr>
          <a:xfrm>
            <a:off x="228600" y="278892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2200" dirty="0"/>
          </a:p>
        </p:txBody>
      </p:sp>
      <p:sp>
        <p:nvSpPr>
          <p:cNvPr id="21" name="Text 16"/>
          <p:cNvSpPr/>
          <p:nvPr/>
        </p:nvSpPr>
        <p:spPr>
          <a:xfrm>
            <a:off x="274320" y="3291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Assets (+ Cash)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1965960" y="2743200"/>
            <a:ext cx="1554480" cy="960120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3" name="Text 18"/>
          <p:cNvSpPr/>
          <p:nvPr/>
        </p:nvSpPr>
        <p:spPr>
          <a:xfrm>
            <a:off x="1965960" y="278892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13.5 years</a:t>
            </a:r>
            <a:endParaRPr lang="en-US" sz="2200" dirty="0"/>
          </a:p>
        </p:txBody>
      </p:sp>
      <p:sp>
        <p:nvSpPr>
          <p:cNvPr id="24" name="Text 19"/>
          <p:cNvSpPr/>
          <p:nvPr/>
        </p:nvSpPr>
        <p:spPr>
          <a:xfrm>
            <a:off x="2011680" y="3291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 Data</a:t>
            </a:r>
            <a:endParaRPr lang="en-US" sz="1000" dirty="0"/>
          </a:p>
        </p:txBody>
      </p:sp>
      <p:sp>
        <p:nvSpPr>
          <p:cNvPr id="25" name="Shape 20"/>
          <p:cNvSpPr/>
          <p:nvPr/>
        </p:nvSpPr>
        <p:spPr>
          <a:xfrm>
            <a:off x="3703320" y="2743200"/>
            <a:ext cx="1554480" cy="960120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6" name="Text 21"/>
          <p:cNvSpPr/>
          <p:nvPr/>
        </p:nvSpPr>
        <p:spPr>
          <a:xfrm>
            <a:off x="3703320" y="278892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0.1%</a:t>
            </a:r>
            <a:endParaRPr lang="en-US" sz="2200" dirty="0"/>
          </a:p>
        </p:txBody>
      </p:sp>
      <p:sp>
        <p:nvSpPr>
          <p:cNvPr id="27" name="Text 22"/>
          <p:cNvSpPr/>
          <p:nvPr/>
        </p:nvSpPr>
        <p:spPr>
          <a:xfrm>
            <a:off x="3749040" y="3291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Cost</a:t>
            </a:r>
            <a:endParaRPr lang="en-US" sz="1000" dirty="0"/>
          </a:p>
        </p:txBody>
      </p:sp>
      <p:sp>
        <p:nvSpPr>
          <p:cNvPr id="28" name="Shape 23"/>
          <p:cNvSpPr/>
          <p:nvPr/>
        </p:nvSpPr>
        <p:spPr>
          <a:xfrm>
            <a:off x="5440680" y="2743200"/>
            <a:ext cx="1554480" cy="960120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9" name="Text 24"/>
          <p:cNvSpPr/>
          <p:nvPr/>
        </p:nvSpPr>
        <p:spPr>
          <a:xfrm>
            <a:off x="5440680" y="278892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207</a:t>
            </a:r>
            <a:endParaRPr lang="en-US" sz="2200" dirty="0"/>
          </a:p>
        </p:txBody>
      </p:sp>
      <p:sp>
        <p:nvSpPr>
          <p:cNvPr id="30" name="Text 25"/>
          <p:cNvSpPr/>
          <p:nvPr/>
        </p:nvSpPr>
        <p:spPr>
          <a:xfrm>
            <a:off x="5486400" y="3291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Test Days</a:t>
            </a:r>
            <a:endParaRPr lang="en-US" sz="1000" dirty="0"/>
          </a:p>
        </p:txBody>
      </p:sp>
      <p:sp>
        <p:nvSpPr>
          <p:cNvPr id="31" name="Shape 26"/>
          <p:cNvSpPr/>
          <p:nvPr/>
        </p:nvSpPr>
        <p:spPr>
          <a:xfrm>
            <a:off x="7178040" y="2743200"/>
            <a:ext cx="1554480" cy="960120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32" name="Text 27"/>
          <p:cNvSpPr/>
          <p:nvPr/>
        </p:nvSpPr>
        <p:spPr>
          <a:xfrm>
            <a:off x="7178040" y="2788920"/>
            <a:ext cx="155448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747</a:t>
            </a:r>
            <a:endParaRPr lang="en-US" sz="2200" dirty="0"/>
          </a:p>
        </p:txBody>
      </p:sp>
      <p:sp>
        <p:nvSpPr>
          <p:cNvPr id="33" name="Text 28"/>
          <p:cNvSpPr/>
          <p:nvPr/>
        </p:nvSpPr>
        <p:spPr>
          <a:xfrm>
            <a:off x="7223760" y="3291840"/>
            <a:ext cx="146304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E0F2F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Test Days</a:t>
            </a:r>
            <a:endParaRPr lang="en-US" sz="1000" dirty="0"/>
          </a:p>
        </p:txBody>
      </p:sp>
      <p:sp>
        <p:nvSpPr>
          <p:cNvPr id="34" name="Text 29"/>
          <p:cNvSpPr/>
          <p:nvPr/>
        </p:nvSpPr>
        <p:spPr>
          <a:xfrm>
            <a:off x="228600" y="3858768"/>
            <a:ext cx="868680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n-US" sz="1000" dirty="0"/>
              <a:t>Daily price data spans June 2012 to December 2025, covering multiple distinct market regimes.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Architecture &amp; Methodology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416560" y="777240"/>
            <a:ext cx="1920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416560" y="777240"/>
            <a:ext cx="1920240" cy="54864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508000" y="84124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Preparation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8000" y="1280160"/>
            <a:ext cx="1737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Tiingo API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Adjusted Prices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Volatility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336800" y="1627632"/>
            <a:ext cx="228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9" name="Shape 7"/>
          <p:cNvSpPr/>
          <p:nvPr/>
        </p:nvSpPr>
        <p:spPr>
          <a:xfrm>
            <a:off x="2565400" y="777240"/>
            <a:ext cx="1920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565400" y="777240"/>
            <a:ext cx="192024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656840" y="84124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Training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656840" y="1280160"/>
            <a:ext cx="1737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PPO (SB3)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RL Variants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NSGA-II Static &amp; Rolling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485640" y="1627632"/>
            <a:ext cx="228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4" name="Shape 12"/>
          <p:cNvSpPr/>
          <p:nvPr/>
        </p:nvSpPr>
        <p:spPr>
          <a:xfrm>
            <a:off x="4714240" y="777240"/>
            <a:ext cx="1920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714240" y="777240"/>
            <a:ext cx="1920240" cy="54864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805680" y="84124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Evaluation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5680" y="1280160"/>
            <a:ext cx="1737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Held-Out Test Set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Sharpe, MDD, HHI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Transaction Costs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6634480" y="1627632"/>
            <a:ext cx="228600" cy="0"/>
          </a:xfrm>
          <a:prstGeom prst="line">
            <a:avLst/>
          </a:prstGeom>
          <a:noFill/>
          <a:ln w="1905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9" name="Shape 17"/>
          <p:cNvSpPr/>
          <p:nvPr/>
        </p:nvSpPr>
        <p:spPr>
          <a:xfrm>
            <a:off x="6863080" y="777240"/>
            <a:ext cx="19202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863080" y="777240"/>
            <a:ext cx="1920240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954520" y="841248"/>
            <a:ext cx="173736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Post-Hoc MOO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954520" y="1280160"/>
            <a:ext cx="1737360" cy="1143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Pareto Dominance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Return, HHI, MDD</a:t>
            </a:r>
            <a:endParaRPr lang="en-US" sz="1000" dirty="0"/>
          </a:p>
          <a:p>
            <a:pPr marL="0" indent="0" algn="ctr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epsilon = 0.005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416560" y="2743200"/>
            <a:ext cx="40640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4" name="Shape 22"/>
          <p:cNvSpPr/>
          <p:nvPr/>
        </p:nvSpPr>
        <p:spPr>
          <a:xfrm>
            <a:off x="416560" y="2743200"/>
            <a:ext cx="64008" cy="192024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5" name="Text 23"/>
          <p:cNvSpPr/>
          <p:nvPr/>
        </p:nvSpPr>
        <p:spPr>
          <a:xfrm>
            <a:off x="599440" y="2852928"/>
            <a:ext cx="3733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Reinforcement Learning (PPO)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99440" y="3246120"/>
            <a:ext cx="3733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Rewards: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PureReturn, LogReturn, HighHHI, LowVolatility
</a:t>
            </a: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Observation: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40-day normalised price window +/- GARCH forecasts
</a:t>
            </a: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Softmax continuous weight vector (long-only)
</a:t>
            </a: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EvalCallback picks best checkpoint on eval set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714240" y="2743200"/>
            <a:ext cx="4064000" cy="1920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8" name="Shape 26"/>
          <p:cNvSpPr/>
          <p:nvPr/>
        </p:nvSpPr>
        <p:spPr>
          <a:xfrm>
            <a:off x="4714240" y="2743200"/>
            <a:ext cx="64008" cy="192024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9" name="Text 27"/>
          <p:cNvSpPr/>
          <p:nvPr/>
        </p:nvSpPr>
        <p:spPr>
          <a:xfrm>
            <a:off x="4892040" y="2852928"/>
            <a:ext cx="3733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Evolutionary Optimisation (NSGA-II)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4892040" y="3246120"/>
            <a:ext cx="37338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Static: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 on eval set, pop=80, gen=50, fixed action
</a:t>
            </a: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Retrain every 10 days on most recent 40-day window
</a:t>
            </a: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Objectives: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Portfolio return + Max Drawdown (2-obj Pareto)
</a:t>
            </a:r>
            <a:r>
              <a:rPr lang="en-US" sz="1000" b="1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Selection: </a:t>
            </a:r>
            <a:r>
              <a:rPr lang="en-US" sz="1000" dirty="0">
                <a:solidFill>
                  <a:srgbClr val="33415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Distance-to-utopia (0.65 return weight, 0.35 MDD)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Results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1920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1920240" cy="5029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6" name="Text 4"/>
          <p:cNvSpPr/>
          <p:nvPr/>
        </p:nvSpPr>
        <p:spPr>
          <a:xfrm>
            <a:off x="274320" y="8503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D94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2.577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365760" y="1444752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Sharpe Ratio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20040" y="17373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configuration best run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804672"/>
            <a:ext cx="1920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8"/>
          <p:cNvSpPr/>
          <p:nvPr/>
        </p:nvSpPr>
        <p:spPr>
          <a:xfrm>
            <a:off x="2423160" y="804672"/>
            <a:ext cx="1920240" cy="5029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1" name="Text 9"/>
          <p:cNvSpPr/>
          <p:nvPr/>
        </p:nvSpPr>
        <p:spPr>
          <a:xfrm>
            <a:off x="2423160" y="8503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2.21x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2514600" y="1444752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Return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2468880" y="17373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Large configuration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4572000" y="804672"/>
            <a:ext cx="1920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3"/>
          <p:cNvSpPr/>
          <p:nvPr/>
        </p:nvSpPr>
        <p:spPr>
          <a:xfrm>
            <a:off x="4572000" y="804672"/>
            <a:ext cx="1920240" cy="502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16" name="Text 14"/>
          <p:cNvSpPr/>
          <p:nvPr/>
        </p:nvSpPr>
        <p:spPr>
          <a:xfrm>
            <a:off x="4572000" y="8503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50/50</a:t>
            </a:r>
            <a:endParaRPr lang="en-US" sz="3200" dirty="0"/>
          </a:p>
        </p:txBody>
      </p:sp>
      <p:sp>
        <p:nvSpPr>
          <p:cNvPr id="17" name="Text 15"/>
          <p:cNvSpPr/>
          <p:nvPr/>
        </p:nvSpPr>
        <p:spPr>
          <a:xfrm>
            <a:off x="4663440" y="1444752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Statistically Significant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617720" y="17373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/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</a:t>
            </a:r>
            <a:r>
              <a:rPr lang="en-US" sz="900" baseline="-25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</a:t>
            </a:r>
            <a:r>
              <a:rPr lang="en-GB" sz="900" dirty="0">
                <a:solidFill>
                  <a:srgbClr val="94A3B8"/>
                </a:solidFill>
              </a:rPr>
              <a:t>: </a:t>
            </a: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Sharpe </a:t>
            </a:r>
            <a:r>
              <a:rPr lang="en-US" sz="900" dirty="0">
                <a:solidFill>
                  <a:srgbClr val="94A3B8"/>
                </a:solidFill>
                <a:ea typeface="Calibri" pitchFamily="34" charset="-122"/>
                <a:cs typeface="Calibri" pitchFamily="34" charset="-120"/>
              </a:rPr>
              <a:t>ratio </a:t>
            </a:r>
            <a:r>
              <a:rPr lang="en-GB" sz="900" dirty="0">
                <a:solidFill>
                  <a:srgbClr val="94A3B8"/>
                </a:solidFill>
                <a:ea typeface="Calibri" pitchFamily="34" charset="-122"/>
                <a:cs typeface="Calibri" pitchFamily="34" charset="-120"/>
              </a:rPr>
              <a:t>≤</a:t>
            </a:r>
            <a:r>
              <a:rPr lang="en-GB" sz="900" dirty="0">
                <a:solidFill>
                  <a:srgbClr val="94A3B8"/>
                </a:solidFill>
              </a:rPr>
              <a:t> 0, all Large runs</a:t>
            </a:r>
            <a:endParaRPr lang="en-US" sz="900" dirty="0">
              <a:solidFill>
                <a:srgbClr val="94A3B8"/>
              </a:solidFill>
            </a:endParaRPr>
          </a:p>
        </p:txBody>
      </p:sp>
      <p:sp>
        <p:nvSpPr>
          <p:cNvPr id="19" name="Shape 17"/>
          <p:cNvSpPr/>
          <p:nvPr/>
        </p:nvSpPr>
        <p:spPr>
          <a:xfrm>
            <a:off x="6720840" y="804672"/>
            <a:ext cx="1920240" cy="1261872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8"/>
          <p:cNvSpPr/>
          <p:nvPr/>
        </p:nvSpPr>
        <p:spPr>
          <a:xfrm>
            <a:off x="6720840" y="804672"/>
            <a:ext cx="1920240" cy="50292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21" name="Text 19"/>
          <p:cNvSpPr/>
          <p:nvPr/>
        </p:nvSpPr>
        <p:spPr>
          <a:xfrm>
            <a:off x="6720840" y="850392"/>
            <a:ext cx="1920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3200" b="1" dirty="0">
                <a:solidFill>
                  <a:srgbClr val="0369A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100%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6812280" y="1444752"/>
            <a:ext cx="17373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Wins (Large)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6766560" y="1737360"/>
            <a:ext cx="1828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NSGA-II never dominated</a:t>
            </a:r>
            <a:endParaRPr lang="en-US" sz="900" dirty="0"/>
          </a:p>
        </p:txBody>
      </p:sp>
      <p:graphicFrame>
        <p:nvGraphicFramePr>
          <p:cNvPr id="26" name="Table 25">
            <a:extLst>
              <a:ext uri="{FF2B5EF4-FFF2-40B4-BE49-F238E27FC236}">
                <a16:creationId xmlns:a16="http://schemas.microsoft.com/office/drawing/2014/main" id="{BFC8B2C8-3811-498C-9E66-52595C0BB39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03117590"/>
              </p:ext>
            </p:extLst>
          </p:nvPr>
        </p:nvGraphicFramePr>
        <p:xfrm>
          <a:off x="274320" y="2339340"/>
          <a:ext cx="8595356" cy="2176272"/>
        </p:xfrm>
        <a:graphic>
          <a:graphicData uri="http://schemas.openxmlformats.org/drawingml/2006/table">
            <a:tbl>
              <a:tblPr firstRow="1" bandRow="1"/>
              <a:tblGrid>
                <a:gridCol w="1227908">
                  <a:extLst>
                    <a:ext uri="{9D8B030D-6E8A-4147-A177-3AD203B41FA5}">
                      <a16:colId xmlns:a16="http://schemas.microsoft.com/office/drawing/2014/main" val="1162865958"/>
                    </a:ext>
                  </a:extLst>
                </a:gridCol>
                <a:gridCol w="1227908">
                  <a:extLst>
                    <a:ext uri="{9D8B030D-6E8A-4147-A177-3AD203B41FA5}">
                      <a16:colId xmlns:a16="http://schemas.microsoft.com/office/drawing/2014/main" val="739452823"/>
                    </a:ext>
                  </a:extLst>
                </a:gridCol>
                <a:gridCol w="1227908">
                  <a:extLst>
                    <a:ext uri="{9D8B030D-6E8A-4147-A177-3AD203B41FA5}">
                      <a16:colId xmlns:a16="http://schemas.microsoft.com/office/drawing/2014/main" val="1382917404"/>
                    </a:ext>
                  </a:extLst>
                </a:gridCol>
                <a:gridCol w="1227908">
                  <a:extLst>
                    <a:ext uri="{9D8B030D-6E8A-4147-A177-3AD203B41FA5}">
                      <a16:colId xmlns:a16="http://schemas.microsoft.com/office/drawing/2014/main" val="123557542"/>
                    </a:ext>
                  </a:extLst>
                </a:gridCol>
                <a:gridCol w="1227908">
                  <a:extLst>
                    <a:ext uri="{9D8B030D-6E8A-4147-A177-3AD203B41FA5}">
                      <a16:colId xmlns:a16="http://schemas.microsoft.com/office/drawing/2014/main" val="3539017120"/>
                    </a:ext>
                  </a:extLst>
                </a:gridCol>
                <a:gridCol w="1227908">
                  <a:extLst>
                    <a:ext uri="{9D8B030D-6E8A-4147-A177-3AD203B41FA5}">
                      <a16:colId xmlns:a16="http://schemas.microsoft.com/office/drawing/2014/main" val="4280685784"/>
                    </a:ext>
                  </a:extLst>
                </a:gridCol>
                <a:gridCol w="1227908">
                  <a:extLst>
                    <a:ext uri="{9D8B030D-6E8A-4147-A177-3AD203B41FA5}">
                      <a16:colId xmlns:a16="http://schemas.microsoft.com/office/drawing/2014/main" val="3085849812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GB" sz="1000" b="1">
                          <a:solidFill>
                            <a:srgbClr val="FFFFFF"/>
                          </a:solidFill>
                        </a:rPr>
                        <a:t>Configuration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>
                          <a:solidFill>
                            <a:srgbClr val="FFFFFF"/>
                          </a:solidFill>
                        </a:rPr>
                        <a:t>Mean Return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>
                          <a:solidFill>
                            <a:srgbClr val="FFFFFF"/>
                          </a:solidFill>
                        </a:rPr>
                        <a:t>Mean Sharpe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>
                          <a:solidFill>
                            <a:srgbClr val="FFFFFF"/>
                          </a:solidFill>
                        </a:rPr>
                        <a:t>Mean MDD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>
                          <a:solidFill>
                            <a:srgbClr val="FFFFFF"/>
                          </a:solidFill>
                        </a:rPr>
                        <a:t>Mean p-value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>
                          <a:solidFill>
                            <a:srgbClr val="FFFFFF"/>
                          </a:solidFill>
                        </a:rPr>
                        <a:t>Mean HHI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1F3864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1000" b="1" dirty="0">
                          <a:solidFill>
                            <a:srgbClr val="FFFFFF"/>
                          </a:solidFill>
                        </a:rPr>
                        <a:t>Transaction Cost %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1F386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1244974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GB" sz="950" b="0"/>
                        <a:t>Large (747 days)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1.954 +/- 0.254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1.265 +/- 0.142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-0.150 +/- 0.034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0.012 +/- 0.009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0.270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9.38%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018016755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GB" sz="950" b="0"/>
                        <a:t>Augmented Large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1.881 +/- 0.247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1.232 +/- 0.110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-0.148 +/- 0.040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0.012 +/- 0.008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0.198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7.05%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51785673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GB" sz="950" b="0"/>
                        <a:t>Baseline Large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1.739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1.182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-0.141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0.014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0.083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0.0%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6699578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GB" sz="950" b="0"/>
                        <a:t>Small (207 days)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1.225 +/- 0.056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1.523 +/- 0.316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-0.077 +/- 0.022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0.080 +/- 0.040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0.405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2.73%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55357646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GB" sz="950" b="0"/>
                        <a:t>Augmented Small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1.224 +/- 0.072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1.412 +/- 0.333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 dirty="0"/>
                        <a:t>-0.084 +/- 0.023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0.094 +/- 0.042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0.387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2.37%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D6E4F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3284089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algn="l"/>
                      <a:r>
                        <a:rPr lang="en-GB" sz="950" b="0"/>
                        <a:t>Baseline Small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1.136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1.077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-0.067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 dirty="0"/>
                        <a:t>0.147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/>
                        <a:t>0.083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GB" sz="950" b="0" dirty="0"/>
                        <a:t>0.0%</a:t>
                      </a:r>
                    </a:p>
                  </a:txBody>
                  <a:tcPr marT="28448" marB="28448" anchor="ctr">
                    <a:lnL w="6350" cap="flat" cmpd="sng">
                      <a:solidFill>
                        <a:srgbClr val="8EAADB"/>
                      </a:solidFill>
                    </a:lnL>
                    <a:lnR w="6350" cap="flat" cmpd="sng">
                      <a:solidFill>
                        <a:srgbClr val="8EAADB"/>
                      </a:solidFill>
                    </a:lnR>
                    <a:lnT w="6350" cap="flat" cmpd="sng">
                      <a:solidFill>
                        <a:srgbClr val="8EAADB"/>
                      </a:solidFill>
                    </a:lnT>
                    <a:lnB w="6350" cap="flat" cmpd="sng">
                      <a:solidFill>
                        <a:srgbClr val="8EAADB"/>
                      </a:solidFill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882802810"/>
                  </a:ext>
                </a:extLst>
              </a:tr>
            </a:tbl>
          </a:graphicData>
        </a:graphic>
      </p:graphicFrame>
      <p:sp>
        <p:nvSpPr>
          <p:cNvPr id="24" name="TextBox 23">
            <a:extLst>
              <a:ext uri="{FF2B5EF4-FFF2-40B4-BE49-F238E27FC236}">
                <a16:creationId xmlns:a16="http://schemas.microsoft.com/office/drawing/2014/main" id="{FDBDD301-D450-4095-879E-46522D26F0E8}"/>
              </a:ext>
            </a:extLst>
          </p:cNvPr>
          <p:cNvSpPr txBox="1"/>
          <p:nvPr/>
        </p:nvSpPr>
        <p:spPr>
          <a:xfrm>
            <a:off x="271776" y="4686808"/>
            <a:ext cx="8597900" cy="2032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l"/>
            <a:r>
              <a:rPr lang="en-US" sz="1000" i="1" dirty="0">
                <a:solidFill>
                  <a:srgbClr val="64748B"/>
                </a:solidFill>
              </a:rPr>
              <a:t>Augmented configurations have portfolio weights added to the agent's observation space, allowing them to see their current portfolio allocations.</a:t>
            </a:r>
            <a:endParaRPr lang="en-GB" sz="1000" i="1" dirty="0">
              <a:solidFill>
                <a:srgbClr val="64748B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66387499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0F4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Challenges</a:t>
            </a:r>
            <a:endParaRPr lang="en-US" sz="22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64008" cy="1828800"/>
          </a:xfrm>
          <a:prstGeom prst="rect">
            <a:avLst/>
          </a:prstGeom>
          <a:solidFill>
            <a:srgbClr val="DC2626"/>
          </a:solidFill>
          <a:ln w="12700">
            <a:solidFill>
              <a:srgbClr val="DC262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932688"/>
            <a:ext cx="365760" cy="365760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89611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Weak Significance Against Equal-Weight Baseline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438912" y="1353312"/>
            <a:ext cx="39136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Small achieved best Sharpe but only 2/50 runs were statistically significant against the equal-weight bootstrap baseline, with 0/50 significant under Jobson-Korkie. Large had 0/50 runs that were statistically significant against the equal-weight baseline under either test.</a:t>
            </a:r>
            <a:endParaRPr lang="en-US" sz="950" dirty="0"/>
          </a:p>
        </p:txBody>
      </p:sp>
      <p:sp>
        <p:nvSpPr>
          <p:cNvPr id="9" name="Shape 6"/>
          <p:cNvSpPr/>
          <p:nvPr/>
        </p:nvSpPr>
        <p:spPr>
          <a:xfrm>
            <a:off x="4709160" y="804672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0" name="Shape 7"/>
          <p:cNvSpPr/>
          <p:nvPr/>
        </p:nvSpPr>
        <p:spPr>
          <a:xfrm>
            <a:off x="4709160" y="804672"/>
            <a:ext cx="64008" cy="1828800"/>
          </a:xfrm>
          <a:prstGeom prst="rect">
            <a:avLst/>
          </a:prstGeom>
          <a:solidFill>
            <a:srgbClr val="D97706"/>
          </a:solidFill>
          <a:ln w="12700">
            <a:solidFill>
              <a:srgbClr val="D9770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932688"/>
            <a:ext cx="365760" cy="36576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5349240" y="89611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Offline PPO Deployment Limitation</a:t>
            </a:r>
            <a:endParaRPr lang="en-US" sz="1200" dirty="0"/>
          </a:p>
        </p:txBody>
      </p:sp>
      <p:sp>
        <p:nvSpPr>
          <p:cNvPr id="13" name="Text 9"/>
          <p:cNvSpPr/>
          <p:nvPr/>
        </p:nvSpPr>
        <p:spPr>
          <a:xfrm>
            <a:off x="4873752" y="1353312"/>
            <a:ext cx="39136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PPO agent is frozen after training and cannot update its weights during testing. Over a 3-year Large test period, structural market changes after training cannot be adapted to without periodic retraining.</a:t>
            </a:r>
            <a:endParaRPr lang="en-US" sz="950" dirty="0"/>
          </a:p>
        </p:txBody>
      </p:sp>
      <p:sp>
        <p:nvSpPr>
          <p:cNvPr id="14" name="Shape 10"/>
          <p:cNvSpPr/>
          <p:nvPr/>
        </p:nvSpPr>
        <p:spPr>
          <a:xfrm>
            <a:off x="274320" y="2816352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15" name="Shape 11"/>
          <p:cNvSpPr/>
          <p:nvPr/>
        </p:nvSpPr>
        <p:spPr>
          <a:xfrm>
            <a:off x="274320" y="2816352"/>
            <a:ext cx="64008" cy="182880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16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2944368"/>
            <a:ext cx="365760" cy="3657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914400" y="290779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GARCH Zero-Correlation Approximation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438912" y="3364992"/>
            <a:ext cx="39136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LowVolatility reward computes portfolio variance assuming zero cross-asset correlation. This underestimates true risk when assets are positively correlated, which commonly occurs during market stress.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709160" y="2816352"/>
            <a:ext cx="420624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sp>
        <p:nvSpPr>
          <p:cNvPr id="20" name="Shape 15"/>
          <p:cNvSpPr/>
          <p:nvPr/>
        </p:nvSpPr>
        <p:spPr>
          <a:xfrm>
            <a:off x="4709160" y="2816352"/>
            <a:ext cx="64008" cy="18288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pic>
        <p:nvPicPr>
          <p:cNvPr id="21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2944368"/>
            <a:ext cx="365760" cy="365760"/>
          </a:xfrm>
          <a:prstGeom prst="rect">
            <a:avLst/>
          </a:prstGeom>
        </p:spPr>
      </p:pic>
      <p:sp>
        <p:nvSpPr>
          <p:cNvPr id="22" name="Text 16"/>
          <p:cNvSpPr/>
          <p:nvPr/>
        </p:nvSpPr>
        <p:spPr>
          <a:xfrm>
            <a:off x="5349240" y="2907792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DCC-GARCH Did Not Improve Results</a:t>
            </a:r>
            <a:endParaRPr lang="en-US" sz="1200" dirty="0"/>
          </a:p>
        </p:txBody>
      </p:sp>
      <p:sp>
        <p:nvSpPr>
          <p:cNvPr id="23" name="Text 17"/>
          <p:cNvSpPr/>
          <p:nvPr/>
        </p:nvSpPr>
        <p:spPr>
          <a:xfrm>
            <a:off x="4873752" y="3364992"/>
            <a:ext cx="3913632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DCC-GARCH modelled time-varying correlations across all 11 assets but showed no measurable improvement over independent GARCH(1,1). The added covariance complexity likely increased reward noise without providing a cleaner learning gradient for PPO.</a:t>
            </a:r>
            <a:endParaRPr lang="en-US" sz="950" dirty="0"/>
          </a:p>
        </p:txBody>
      </p:sp>
    </p:spTree>
    <p:extLst>
      <p:ext uri="{BB962C8B-B14F-4D97-AF65-F5344CB8AC3E}">
        <p14:creationId xmlns:p14="http://schemas.microsoft.com/office/powerpoint/2010/main" val="11870111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Adaptive Behaviour Under Market Stress</a:t>
            </a:r>
            <a:endParaRPr lang="en-US" sz="2200" dirty="0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561889F0-0D05-4D03-BA0A-76BC7E54F703}"/>
              </a:ext>
            </a:extLst>
          </p:cNvPr>
          <p:cNvSpPr txBox="1"/>
          <p:nvPr/>
        </p:nvSpPr>
        <p:spPr>
          <a:xfrm>
            <a:off x="0" y="4645451"/>
            <a:ext cx="9144000" cy="4064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475569"/>
                </a:solidFill>
              </a:rPr>
              <a:t>Days 550–600: Agent shifts from equities into cash and gold ahead of the August 2024 Bank of Japan sell-off, demonstrating genuine learned risk awareness.</a:t>
            </a:r>
            <a:endParaRPr lang="en-GB" sz="1000" i="1" dirty="0">
              <a:solidFill>
                <a:srgbClr val="475569"/>
              </a:solidFill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55F80E5B-0AB0-D9F5-A600-CE070ACB8EDC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47900" y="736600"/>
            <a:ext cx="4648200" cy="386109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11234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456"/>
          </a:solidFill>
          <a:ln w="12700">
            <a:solidFill>
              <a:srgbClr val="1A2456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Out-of-Sample Robustness</a:t>
            </a:r>
            <a:endParaRPr lang="en-US" sz="2200" dirty="0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66C8F515-F01E-41B6-92A9-37A55E72E0E8}"/>
              </a:ext>
            </a:extLst>
          </p:cNvPr>
          <p:cNvSpPr txBox="1"/>
          <p:nvPr/>
        </p:nvSpPr>
        <p:spPr>
          <a:xfrm>
            <a:off x="635000" y="736600"/>
            <a:ext cx="42164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GB" sz="1000" b="1" dirty="0">
                <a:solidFill>
                  <a:srgbClr val="1E293B"/>
                </a:solidFill>
              </a:rPr>
              <a:t>Standard Test Window</a:t>
            </a: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FCDFE161-D1E2-49C5-A28B-BE23EB8ADE6F}"/>
              </a:ext>
            </a:extLst>
          </p:cNvPr>
          <p:cNvSpPr txBox="1"/>
          <p:nvPr/>
        </p:nvSpPr>
        <p:spPr>
          <a:xfrm>
            <a:off x="4991100" y="736600"/>
            <a:ext cx="4216400" cy="177800"/>
          </a:xfrm>
          <a:prstGeom prst="rect">
            <a:avLst/>
          </a:prstGeom>
          <a:noFill/>
        </p:spPr>
        <p:txBody>
          <a:bodyPr vertOverflow="overflow" vert="horz" wrap="square" rtlCol="0" anchor="ctr" anchorCtr="0">
            <a:noAutofit/>
          </a:bodyPr>
          <a:lstStyle/>
          <a:p>
            <a:pPr algn="l"/>
            <a:r>
              <a:rPr lang="en-US" sz="1000" b="1" dirty="0">
                <a:solidFill>
                  <a:srgbClr val="1E293B"/>
                </a:solidFill>
              </a:rPr>
              <a:t>Extra Test Window (Same Frozen Policy)</a:t>
            </a:r>
            <a:endParaRPr lang="en-GB" sz="1000" b="1" dirty="0">
              <a:solidFill>
                <a:srgbClr val="1E293B"/>
              </a:solidFill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653238CF-B399-4F8C-AD43-1C776102BB39}"/>
              </a:ext>
            </a:extLst>
          </p:cNvPr>
          <p:cNvSpPr txBox="1"/>
          <p:nvPr/>
        </p:nvSpPr>
        <p:spPr>
          <a:xfrm>
            <a:off x="635000" y="4672850"/>
            <a:ext cx="7874000" cy="304800"/>
          </a:xfrm>
          <a:prstGeom prst="rect">
            <a:avLst/>
          </a:prstGeom>
          <a:noFill/>
        </p:spPr>
        <p:txBody>
          <a:bodyPr vertOverflow="overflow" vert="horz" wrap="square" rtlCol="0" anchor="t">
            <a:noAutofit/>
          </a:bodyPr>
          <a:lstStyle/>
          <a:p>
            <a:pPr algn="ctr"/>
            <a:r>
              <a:rPr lang="en-US" sz="1000" i="1" dirty="0">
                <a:solidFill>
                  <a:srgbClr val="475569"/>
                </a:solidFill>
              </a:rPr>
              <a:t>Frozen </a:t>
            </a:r>
            <a:r>
              <a:rPr lang="en-US" sz="1000" i="1" dirty="0" err="1">
                <a:solidFill>
                  <a:srgbClr val="475569"/>
                </a:solidFill>
              </a:rPr>
              <a:t>HighHHI</a:t>
            </a:r>
            <a:r>
              <a:rPr lang="en-US" sz="1000" i="1" dirty="0">
                <a:solidFill>
                  <a:srgbClr val="475569"/>
                </a:solidFill>
              </a:rPr>
              <a:t> policy </a:t>
            </a:r>
            <a:r>
              <a:rPr lang="en-US" sz="1000" i="1" dirty="0" err="1">
                <a:solidFill>
                  <a:srgbClr val="475569"/>
                </a:solidFill>
              </a:rPr>
              <a:t>generalises</a:t>
            </a:r>
            <a:r>
              <a:rPr lang="en-US" sz="1000" i="1" dirty="0">
                <a:solidFill>
                  <a:srgbClr val="475569"/>
                </a:solidFill>
              </a:rPr>
              <a:t> to an unseen test period, ruling out overfitting to a single market regime.</a:t>
            </a:r>
            <a:endParaRPr lang="en-GB" sz="1000" i="1" dirty="0">
              <a:solidFill>
                <a:srgbClr val="475569"/>
              </a:solidFill>
            </a:endParaRPr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0416612C-A2FE-F0E9-B329-FD2F4BC3CC9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9400" y="992632"/>
            <a:ext cx="4216400" cy="3502418"/>
          </a:xfrm>
          <a:prstGeom prst="rect">
            <a:avLst/>
          </a:prstGeom>
        </p:spPr>
      </p:pic>
      <p:pic>
        <p:nvPicPr>
          <p:cNvPr id="18" name="Picture 17">
            <a:extLst>
              <a:ext uri="{FF2B5EF4-FFF2-40B4-BE49-F238E27FC236}">
                <a16:creationId xmlns:a16="http://schemas.microsoft.com/office/drawing/2014/main" id="{FD161566-04FE-C478-F1C8-563567A67AFD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48200" y="992632"/>
            <a:ext cx="4216400" cy="350241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026846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A245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  <p:txBody>
          <a:bodyPr/>
          <a:lstStyle/>
          <a:p>
            <a:endParaRPr lang="en-GB"/>
          </a:p>
        </p:txBody>
      </p:sp>
      <p:sp>
        <p:nvSpPr>
          <p:cNvPr id="3" name="Text 1"/>
          <p:cNvSpPr/>
          <p:nvPr/>
        </p:nvSpPr>
        <p:spPr>
          <a:xfrm>
            <a:off x="457200" y="137160"/>
            <a:ext cx="822960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2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Achievements &amp; Conclusions</a:t>
            </a:r>
            <a:endParaRPr lang="en-US" sz="2600" dirty="0"/>
          </a:p>
        </p:txBody>
      </p:sp>
      <p:sp>
        <p:nvSpPr>
          <p:cNvPr id="4" name="Shape 2"/>
          <p:cNvSpPr/>
          <p:nvPr/>
        </p:nvSpPr>
        <p:spPr>
          <a:xfrm>
            <a:off x="274320" y="914400"/>
            <a:ext cx="420624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D4E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8912" y="1042416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14400" y="100584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RL Dominates with Sufficient Training Data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438912" y="1444752"/>
            <a:ext cx="3913632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the Large configuration RL was selected by the Pareto filter in 100% of 50 runs, all achieving p &lt; 0.05 against risk-free rate, confirming that PPO learns robust adaptive policies that consistently outperform both NSGA-II and the passive equal-weight benchmark.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709160" y="914400"/>
            <a:ext cx="420624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D4E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73752" y="1042416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49240" y="100584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34D3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Robust Post-Hoc MOO Framework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4873752" y="1444752"/>
            <a:ext cx="3913632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3-objective Pareto dominance filter (return, MDD, HHI) provides a principled selection mechanism across stochastic PPO runs. It avoids collapsing trade-offs into a single metric and is well-suited to the variance inherent in RL training.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274320" y="2834640"/>
            <a:ext cx="420624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D4E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38912" y="2962656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914400" y="292608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60A5F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Rolling NSGA-II as a Safety Net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438912" y="3364992"/>
            <a:ext cx="3913632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NSGA-II provided a valuable fallback in 7/50 Small config runs when RL underperformed, delivering consistent, low-turnover, concentrated portfolios. However, it was never selected in runs where RL succeeded, confirming its role as backup rather than rival.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709160" y="2834640"/>
            <a:ext cx="4206240" cy="1737360"/>
          </a:xfrm>
          <a:prstGeom prst="rect">
            <a:avLst/>
          </a:prstGeom>
          <a:solidFill>
            <a:srgbClr val="1E3A5F"/>
          </a:solidFill>
          <a:ln w="12700">
            <a:solidFill>
              <a:srgbClr val="2D4E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5000"/>
              </a:srgbClr>
            </a:outerShdw>
          </a:effectLst>
        </p:spPr>
        <p:txBody>
          <a:bodyPr/>
          <a:lstStyle/>
          <a:p>
            <a:endParaRPr lang="en-GB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73752" y="2962656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49240" y="2926080"/>
            <a:ext cx="34290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08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Practical &amp; Realistic Evaluation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4873752" y="3364992"/>
            <a:ext cx="3913632" cy="11155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9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results are net of a genuine 0.1% institutional brokerage fee. The best Large run achieved 2.21x return and Sharpe 1.68 over 3 years, with portfolio weights visibly adapting to market stress events including the August 2024 global sell-off.</a:t>
            </a:r>
            <a:endParaRPr lang="en-US" sz="950" dirty="0"/>
          </a:p>
        </p:txBody>
      </p:sp>
      <p:sp>
        <p:nvSpPr>
          <p:cNvPr id="20" name="Text 14"/>
          <p:cNvSpPr/>
          <p:nvPr/>
        </p:nvSpPr>
        <p:spPr>
          <a:xfrm>
            <a:off x="457200" y="47320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000" i="1" dirty="0">
                <a:solidFill>
                  <a:srgbClr val="B0BEC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Work: Periodic PPO Retraining  |  Online RL |  Live Market Deployment</a:t>
            </a:r>
            <a:endParaRPr lang="en-US" sz="1000" dirty="0"/>
          </a:p>
        </p:txBody>
      </p:sp>
    </p:spTree>
    <p:extLst>
      <p:ext uri="{BB962C8B-B14F-4D97-AF65-F5344CB8AC3E}">
        <p14:creationId xmlns:p14="http://schemas.microsoft.com/office/powerpoint/2010/main" val="44080153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438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494764B6-1C1D-480D-B1BF-384720F2C102}">
  <we:reference id="wa200010001" version="1.0.0.1" store="en-US" storeType="OMEX"/>
  <we:alternateReferences>
    <we:reference id="wa200010001" version="1.0.0.1" store="en-US" storeType="OMEX"/>
  </we:alternateReferences>
  <we:properties/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303</TotalTime>
  <Words>1021</Words>
  <Application>Microsoft Office PowerPoint</Application>
  <PresentationFormat>On-screen Show (16:9)</PresentationFormat>
  <Paragraphs>159</Paragraphs>
  <Slides>9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Multi-Objective Portfolio Optimisation</dc:title>
  <dc:subject>PptxGenJS Presentation</dc:subject>
  <dc:creator>PptxGenJS</dc:creator>
  <cp:lastModifiedBy>Matty Woodcock</cp:lastModifiedBy>
  <cp:revision>17</cp:revision>
  <dcterms:created xsi:type="dcterms:W3CDTF">2026-03-25T19:17:58Z</dcterms:created>
  <dcterms:modified xsi:type="dcterms:W3CDTF">2026-03-26T01:59:06Z</dcterms:modified>
</cp:coreProperties>
</file>